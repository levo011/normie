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23431ca8614172" /><Relationship Type="http://schemas.openxmlformats.org/officeDocument/2006/relationships/extended-properties" Target="/docProps/app.xml" Id="Ra07cb8fd2c5743fc" /><Relationship Type="http://schemas.openxmlformats.org/officeDocument/2006/relationships/officeDocument" Target="/ppt/presentation.xml" Id="R5369b04ae32941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8db2a6c82d419c"/>
  </p:sldMasterIdLst>
  <p:notesMasterIdLst>
    <p:notesMasterId xmlns:r="http://schemas.openxmlformats.org/officeDocument/2006/relationships" r:id="Rddb1bf18fc4c4892"/>
  </p:notesMasterIdLst>
  <p:sldIdLst>
    <p:sldId xmlns:r="http://schemas.openxmlformats.org/officeDocument/2006/relationships" id="256" r:id="R5802be2be88f4f89"/>
    <p:sldId xmlns:r="http://schemas.openxmlformats.org/officeDocument/2006/relationships" id="257" r:id="Rfe6f365708ad4b11"/>
    <p:sldId xmlns:r="http://schemas.openxmlformats.org/officeDocument/2006/relationships" id="258" r:id="Rbad71548e9fb41c6"/>
    <p:sldId xmlns:r="http://schemas.openxmlformats.org/officeDocument/2006/relationships" id="259" r:id="R156cfec9bf6a44ba"/>
    <p:sldId xmlns:r="http://schemas.openxmlformats.org/officeDocument/2006/relationships" id="260" r:id="R566f350da8b4428d"/>
    <p:sldId xmlns:r="http://schemas.openxmlformats.org/officeDocument/2006/relationships" id="261" r:id="R4c9b765098524bc6"/>
    <p:sldId xmlns:r="http://schemas.openxmlformats.org/officeDocument/2006/relationships" id="262" r:id="R0f2452f494e34bd8"/>
    <p:sldId xmlns:r="http://schemas.openxmlformats.org/officeDocument/2006/relationships" id="263" r:id="Rb180dbfcf00d4369"/>
    <p:sldId xmlns:r="http://schemas.openxmlformats.org/officeDocument/2006/relationships" id="264" r:id="Raf446343faf24210"/>
    <p:sldId xmlns:r="http://schemas.openxmlformats.org/officeDocument/2006/relationships" id="265" r:id="R3d6c674cfc654b11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746ca7cb834ca7" /><Relationship Type="http://schemas.openxmlformats.org/officeDocument/2006/relationships/slideMaster" Target="/ppt/slideMasters/slideMaster1.xml" Id="Ra08db2a6c82d419c" /><Relationship Type="http://schemas.openxmlformats.org/officeDocument/2006/relationships/notesMaster" Target="/ppt/notesMasters/notesMaster1.xml" Id="Rddb1bf18fc4c4892" /><Relationship Type="http://schemas.openxmlformats.org/officeDocument/2006/relationships/presProps" Target="/ppt/presProps.xml" Id="R64028284a7d44ae9" /><Relationship Type="http://schemas.openxmlformats.org/officeDocument/2006/relationships/viewProps" Target="/ppt/viewProps.xml" Id="R08371b8a1d75411e" /><Relationship Type="http://schemas.openxmlformats.org/officeDocument/2006/relationships/tableStyles" Target="/ppt/tableStyles.xml" Id="Re28154e6a8b34421" /><Relationship Type="http://schemas.openxmlformats.org/officeDocument/2006/relationships/slide" Target="/ppt/slides/slide1.xml" Id="R5802be2be88f4f89" /><Relationship Type="http://schemas.openxmlformats.org/officeDocument/2006/relationships/slide" Target="/ppt/slides/slide2.xml" Id="Rfe6f365708ad4b11" /><Relationship Type="http://schemas.openxmlformats.org/officeDocument/2006/relationships/slide" Target="/ppt/slides/slide3.xml" Id="Rbad71548e9fb41c6" /><Relationship Type="http://schemas.openxmlformats.org/officeDocument/2006/relationships/slide" Target="/ppt/slides/slide4.xml" Id="R156cfec9bf6a44ba" /><Relationship Type="http://schemas.openxmlformats.org/officeDocument/2006/relationships/slide" Target="/ppt/slides/slide5.xml" Id="R566f350da8b4428d" /><Relationship Type="http://schemas.openxmlformats.org/officeDocument/2006/relationships/slide" Target="/ppt/slides/slide6.xml" Id="R4c9b765098524bc6" /><Relationship Type="http://schemas.openxmlformats.org/officeDocument/2006/relationships/slide" Target="/ppt/slides/slide7.xml" Id="R0f2452f494e34bd8" /><Relationship Type="http://schemas.openxmlformats.org/officeDocument/2006/relationships/slide" Target="/ppt/slides/slide8.xml" Id="Rb180dbfcf00d4369" /><Relationship Type="http://schemas.openxmlformats.org/officeDocument/2006/relationships/slide" Target="/ppt/slides/slide9.xml" Id="Raf446343faf24210" /><Relationship Type="http://schemas.openxmlformats.org/officeDocument/2006/relationships/slide" Target="/ppt/slides/slide10.xml" Id="R3d6c674cfc654b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0cae4349b847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7a34c032534ec8" /><Relationship Type="http://schemas.openxmlformats.org/officeDocument/2006/relationships/notesMaster" Target="/ppt/notesMasters/notesMaster1.xml" Id="Raa97082ee5c646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cb0e7cc3134551" /><Relationship Type="http://schemas.openxmlformats.org/officeDocument/2006/relationships/notesMaster" Target="/ppt/notesMasters/notesMaster1.xml" Id="R0fe287c8bbeb48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70aa27a4504d34" /><Relationship Type="http://schemas.openxmlformats.org/officeDocument/2006/relationships/notesMaster" Target="/ppt/notesMasters/notesMaster1.xml" Id="Rd2cd78b505314b6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a0a3fe9b9904076" /><Relationship Type="http://schemas.openxmlformats.org/officeDocument/2006/relationships/notesMaster" Target="/ppt/notesMasters/notesMaster1.xml" Id="Ra4d08be4c11247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34f00d8e6d74500" /><Relationship Type="http://schemas.openxmlformats.org/officeDocument/2006/relationships/notesMaster" Target="/ppt/notesMasters/notesMaster1.xml" Id="R2a9064a4da07484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1618e8755394f71" /><Relationship Type="http://schemas.openxmlformats.org/officeDocument/2006/relationships/notesMaster" Target="/ppt/notesMasters/notesMaster1.xml" Id="Reff4b77a3e8143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f3eaa605dee44d7" /><Relationship Type="http://schemas.openxmlformats.org/officeDocument/2006/relationships/notesMaster" Target="/ppt/notesMasters/notesMaster1.xml" Id="R5b95e50867c5423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be7cb581974c5a" /><Relationship Type="http://schemas.openxmlformats.org/officeDocument/2006/relationships/notesMaster" Target="/ppt/notesMasters/notesMaster1.xml" Id="R2ced62fcf2f14b7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fc8acc25b5442ba" /><Relationship Type="http://schemas.openxmlformats.org/officeDocument/2006/relationships/notesMaster" Target="/ppt/notesMasters/notesMaster1.xml" Id="R3602414ba6e944f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03df7a39912462a" /><Relationship Type="http://schemas.openxmlformats.org/officeDocument/2006/relationships/notesMaster" Target="/ppt/notesMasters/notesMaster1.xml" Id="Rc6f28dd046fd4e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Review 1 deck. Source: Normie project implementation, local workspace, 27 September 2026.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Normie implementation and local test result, 27 September 2026.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problem statement and implemented architecture.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Literature review retained from the zeroth review deck.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Literature review retained from the zeroth review deck.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implemented FastAPI pipeline. The verifier is an optional semantic pass in the current prototype.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current implementation in app/input_layer.py, ddl_parser.py, extraction.py, normalization.py, verifier.py, output.py, and api.py.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image: local Normie Swagger UI captured in the supplied project screenshots. Test result: 4 passed in local pytest run.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current prototype scope and planned work. Claims are limited to the implemented features.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slide.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a5c56ee74945f7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3708b867974da0" /><Relationship Type="http://schemas.openxmlformats.org/officeDocument/2006/relationships/slideLayout" Target="/ppt/slideLayouts/slideLayout1.xml" Id="Ra658b632b710442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58b632b7104429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edf842aa4248da" /><Relationship Type="http://schemas.openxmlformats.org/officeDocument/2006/relationships/image" Target="/ppt/media/image.png" Id="Rfc991dc138f74747" /><Relationship Type="http://schemas.openxmlformats.org/officeDocument/2006/relationships/image" Target="/ppt/media/image2.png" Id="R64cb61f7e6264453" /><Relationship Type="http://schemas.openxmlformats.org/officeDocument/2006/relationships/notesSlide" Target="/ppt/notesSlides/notesSlide1.xml" Id="R0570cf1ff0ba4c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68bba300d34321" /><Relationship Type="http://schemas.openxmlformats.org/officeDocument/2006/relationships/notesSlide" Target="/ppt/notesSlides/notesSlide2.xml" Id="R6e975e3d9af542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5b35c04afb4461" /><Relationship Type="http://schemas.openxmlformats.org/officeDocument/2006/relationships/notesSlide" Target="/ppt/notesSlides/notesSlide3.xml" Id="R3446d46c11ad4b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a02034b4f54207" /><Relationship Type="http://schemas.openxmlformats.org/officeDocument/2006/relationships/notesSlide" Target="/ppt/notesSlides/notesSlide4.xml" Id="R901c2e5ceaf943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059a0c91644290" /><Relationship Type="http://schemas.openxmlformats.org/officeDocument/2006/relationships/notesSlide" Target="/ppt/notesSlides/notesSlide5.xml" Id="R6e3c73d8c3af44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e8aff915614b05" /><Relationship Type="http://schemas.openxmlformats.org/officeDocument/2006/relationships/image" Target="/ppt/media/image3.png" Id="R5faca645d3ca4f57" /><Relationship Type="http://schemas.openxmlformats.org/officeDocument/2006/relationships/image" Target="/ppt/media/image4.png" Id="Rab92506016954658" /><Relationship Type="http://schemas.openxmlformats.org/officeDocument/2006/relationships/notesSlide" Target="/ppt/notesSlides/notesSlide6.xml" Id="R2c787f5e99f54d6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0acd7a7cde443e" /><Relationship Type="http://schemas.openxmlformats.org/officeDocument/2006/relationships/notesSlide" Target="/ppt/notesSlides/notesSlide7.xml" Id="R13141e75ccc0489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8c3e8da3504fff" /><Relationship Type="http://schemas.openxmlformats.org/officeDocument/2006/relationships/image" Target="/ppt/media/image5.png" Id="R4ade1004558d443c" /><Relationship Type="http://schemas.openxmlformats.org/officeDocument/2006/relationships/notesSlide" Target="/ppt/notesSlides/notesSlide8.xml" Id="R52b54cd1f0844c1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8e57f71c9744e5" /><Relationship Type="http://schemas.openxmlformats.org/officeDocument/2006/relationships/notesSlide" Target="/ppt/notesSlides/notesSlide9.xml" Id="R31deb96214544a8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ae28671f3d4e93" /><Relationship Type="http://schemas.openxmlformats.org/officeDocument/2006/relationships/notesSlide" Target="/ppt/notesSlides/notesSlide10.xml" Id="Rde1d9a6811ee4fe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44C8F49-D0D9-4B0C-9B70-E43D1017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61" y="320040"/>
            <a:ext cx="4480560" cy="6035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5959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06639AB-0BD8-4B27-A023-FC953D3C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11480"/>
            <a:ext cx="4297680" cy="5852160"/>
          </a:xfrm>
          <a:prstGeom xmlns:a="http://schemas.openxmlformats.org/drawingml/2006/main" prst="rect">
            <a:avLst/>
          </a:prstGeom>
          <a:ln xmlns:a="http://schemas.openxmlformats.org/drawingml/2006/main" w="15875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11F229E-D0F8-466E-8E9B-A015A115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822960"/>
            <a:ext cx="393192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NORMIE</a:t>
            </a:r>
            <a:endParaRPr sz="24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indent="0" algn="l">
              <a:buNone/>
            </a:pPr>
            <a:r>
              <a:t/>
            </a:r>
            <a:endParaRPr sz="24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Review 1</a:t>
            </a:r>
            <a:endParaRPr sz="2400"/>
          </a:p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AI Agent for Automated</a:t>
            </a:r>
            <a:endParaRPr sz="2400"/>
          </a:p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Database Schema Design</a:t>
            </a:r>
            <a:endParaRPr sz="2400"/>
          </a:p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and Normalization</a:t>
            </a:r>
            <a:endParaRPr sz="2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0B9D58C-0BFF-4787-85D2-99A8F61F8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017520"/>
            <a:ext cx="3931920" cy="3017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t>Lavanay Sharma</a:t>
            </a:r>
            <a:endParaRPr sz="16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indent="0" algn="ctr">
              <a:buNone/>
            </a:pPr>
            <a:r>
              <a:t>(RA2311003010277)</a:t>
            </a:r>
            <a:endParaRPr sz="16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indent="0" algn="ctr">
              <a:buNone/>
            </a:pPr>
            <a:r>
              <a:t/>
            </a:r>
            <a:endParaRPr sz="16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Supervisor Name:</a:t>
            </a:r>
            <a:endParaRPr sz="1600"/>
          </a:p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Dr. R. Sathya</a:t>
            </a:r>
            <a:endParaRPr sz="1600"/>
          </a:p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endParaRPr sz="1600"/>
          </a:p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27 September 2026</a:t>
            </a:r>
            <a:endParaRPr sz="16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991dc138f747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77840" y="822960"/>
            <a:ext cx="5394960" cy="1874520"/>
          </a:xfrm>
          <a:prstGeom xmlns:a="http://schemas.openxmlformats.org/drawingml/2006/main" prst="rect">
            <a:avLst/>
          </a:prstGeom>
        </p:spPr>
      </p:pic>
      <p:pic>
        <p:nvPicPr>
          <p:cNvPr id="1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cb61f7e62644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43061" y="3108960"/>
            <a:ext cx="4023360" cy="1417320"/>
          </a:xfrm>
          <a:prstGeom xmlns:a="http://schemas.openxmlformats.org/drawingml/2006/main" prst="rect">
            <a:avLst/>
          </a:prstGeom>
        </p:spPr>
      </p:pic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1790162A-1B36-4DFF-8D2B-C9890F8C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6400800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808080"/>
                </a:solidFill>
                <a:latin typeface="Calibri"/>
                <a:ea typeface="Calibri"/>
                <a:cs typeface="Calibri"/>
              </a:rPr>
              <a:t>27 September 2026</a:t>
            </a:r>
            <a:endParaRPr sz="11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0840CE00-969B-4EC7-A198-BCBAD77C3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552" y="640080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808080"/>
                </a:solidFill>
                <a:latin typeface="Calibri"/>
                <a:ea typeface="Calibri"/>
                <a:cs typeface="Calibri"/>
              </a:rPr>
              <a:t>1</a:t>
            </a:r>
            <a:endParaRPr sz="1100"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A6EC846-84FC-7430-3ABD-093ECAE7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063" y="6609347"/>
            <a:ext cx="18473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170924054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04DB112-E4B0-4182-BF55-AE884828B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040"/>
            <a:ext cx="1109167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Review 1 Progress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28D952B-BE49-42F4-8BB8-F3281082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6400800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808080"/>
                </a:solidFill>
                <a:latin typeface="Calibri"/>
                <a:ea typeface="Calibri"/>
                <a:cs typeface="Calibri"/>
              </a:rPr>
              <a:t>27 September 2026</a:t>
            </a:r>
            <a:endParaRPr sz="11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C68A02D-E874-4E13-8C9C-08F45835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552" y="640080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808080"/>
                </a:solidFill>
                <a:latin typeface="Calibri"/>
                <a:ea typeface="Calibri"/>
                <a:cs typeface="Calibri"/>
              </a:rPr>
              <a:t>2</a:t>
            </a:r>
            <a:endParaRPr sz="11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D61361F-08D3-4583-8947-EB1073F6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88720"/>
            <a:ext cx="11091672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1BF44BA-F0A9-4C0A-8C6C-8F2B17EE8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17320"/>
            <a:ext cx="10543032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800"/>
              </a:spcAft>
              <a:buNone/>
            </a:pPr>
            <a:r>
              <a:rPr sz="160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Normie now accepts either a plain-English domain description or a denormalized CREATE TABLE statement.</a:t>
            </a:r>
            <a:endParaRPr sz="1600"/>
          </a:p>
          <a:p xmlns:a="http://schemas.openxmlformats.org/drawingml/2006/main">
            <a:pPr marL="0" indent="0">
              <a:spcAft>
                <a:spcPts val="800"/>
              </a:spcAft>
              <a:buNone/>
            </a:pPr>
            <a:r>
              <a:rPr sz="160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/>
            </a:r>
            <a:endParaRPr sz="160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60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The prototype uses Groq to extract entities and functional dependencies, then runs deterministic Python algorithms for attribute closure, candidate-key detection, normal-form checks, and 3NF or BCNF decomposition.</a:t>
            </a:r>
            <a:endParaRPr sz="160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60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/>
            </a:r>
            <a:endParaRPr sz="160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60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The API returns normalized tables, CREATE TABLE SQL, a plain-language report, and Mermaid ERD text.</a:t>
            </a:r>
            <a:endParaRPr sz="1600"/>
          </a:p>
          <a:p xmlns:a="http://schemas.openxmlformats.org/drawingml/2006/main">
            <a:pPr marL="0" indent="0">
              <a:spcAft>
                <a:spcPts val="800"/>
              </a:spcAft>
              <a:buNone/>
            </a:pPr>
            <a:r>
              <a:rPr sz="160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/>
            </a:r>
            <a:endParaRPr sz="1600"/>
          </a:p>
          <a:p xmlns:a="http://schemas.openxmlformats.org/drawingml/2006/main">
            <a:pPr marL="0" indent="0">
              <a:spcAft>
                <a:spcPts val="800"/>
              </a:spcAft>
              <a:buNone/>
            </a:pPr>
            <a:r>
              <a:rPr sz="160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Current evidence: two end-to-end demo inputs, Swagger API endpoints, and four passing normalization tests.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76324845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F7F46EA-6043-442D-8607-15D31E6CA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040"/>
            <a:ext cx="1109167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Problem and Design Principle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7D25C4C-E660-41E7-8420-023E0685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6400800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808080"/>
                </a:solidFill>
                <a:latin typeface="Calibri"/>
                <a:ea typeface="Calibri"/>
                <a:cs typeface="Calibri"/>
              </a:rPr>
              <a:t>27 September 2026</a:t>
            </a:r>
            <a:endParaRPr sz="11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6F830C9-FBBD-4622-B260-3D4B1656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552" y="640080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808080"/>
                </a:solidFill>
                <a:latin typeface="Calibri"/>
                <a:ea typeface="Calibri"/>
                <a:cs typeface="Calibri"/>
              </a:rPr>
              <a:t>3</a:t>
            </a:r>
            <a:endParaRPr sz="11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DB4ADAA-B063-4B66-AFEB-FE5C2B98A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80160"/>
            <a:ext cx="10908792" cy="4846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sz="170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A denormalized schema repeats the same facts across rows, creating update, insertion, and deletion anomalies. Manual normalization requires understanding functional dependencies and candidate keys.</a:t>
            </a:r>
            <a:endParaRPr sz="1700"/>
          </a:p>
          <a:p xmlns:a="http://schemas.openxmlformats.org/drawingml/2006/main"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sz="170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/>
            </a:r>
            <a:endParaRPr sz="1700"/>
          </a:p>
          <a:p xmlns:a="http://schemas.openxmlformats.org/drawingml/2006/main"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sz="170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Normie uses an LLM only to interpret the business requirement or existing schema. The normalization engine itself is deterministic code.</a:t>
            </a:r>
            <a:endParaRPr sz="1700"/>
          </a:p>
          <a:p xmlns:a="http://schemas.openxmlformats.org/drawingml/2006/main"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sz="170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/>
            </a:r>
            <a:endParaRPr sz="1700"/>
          </a:p>
          <a:p xmlns:a="http://schemas.openxmlformats.org/drawingml/2006/main"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sz="170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This separation matters for the project: the AI proposes a schema hypothesis, while closure computation, candidate-key detection, 1NF, 2NF, 3NF, and BCNF checks remain explainable and repeatable.</a:t>
            </a:r>
            <a:endParaRPr sz="1700"/>
          </a:p>
          <a:p xmlns:a="http://schemas.openxmlformats.org/drawingml/2006/main"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sz="170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/>
            </a:r>
            <a:endParaRPr sz="1700"/>
          </a:p>
          <a:p xmlns:a="http://schemas.openxmlformats.org/drawingml/2006/main"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sz="170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Target users: students learning relational design and developers needing a first schema draft.</a:t>
            </a:r>
            <a:endParaRPr sz="1700"/>
          </a:p>
        </p:txBody>
      </p:sp>
    </p:spTree>
    <p:extLst>
      <p:ext uri="{BB962C8B-B14F-4D97-AF65-F5344CB8AC3E}">
        <p14:creationId xmlns:p14="http://schemas.microsoft.com/office/powerpoint/2010/main" val="194408370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BC3C06B-4FB4-429E-BC4E-11529BA3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040"/>
            <a:ext cx="1109167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Literature Review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31385A6-CCB1-4046-97B5-D6A07DE6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6400800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808080"/>
                </a:solidFill>
                <a:latin typeface="Calibri"/>
                <a:ea typeface="Calibri"/>
                <a:cs typeface="Calibri"/>
              </a:rPr>
              <a:t>27 September 2026</a:t>
            </a:r>
            <a:endParaRPr sz="11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F1209B3-E381-4DAA-80A4-EBA971AB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552" y="640080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808080"/>
                </a:solidFill>
                <a:latin typeface="Calibri"/>
                <a:ea typeface="Calibri"/>
                <a:cs typeface="Calibri"/>
              </a:rPr>
              <a:t>4</a:t>
            </a:r>
            <a:endParaRPr sz="1100"/>
          </a:p>
        </p:txBody>
      </p:sp>
      <p:graphicFrame>
        <p:nvGraphicFramePr>
          <p:cNvPr id="9" name="Table 0"/>
          <p:cNvGraphicFramePr/>
          <p:nvPr/>
        </p:nvGraphicFramePr>
        <p:xfrm>
          <a:off xmlns:a="http://schemas.openxmlformats.org/drawingml/2006/main" x="365760" y="1143000"/>
          <a:ext xmlns:a="http://schemas.openxmlformats.org/drawingml/2006/main" cx="11823192" cy="244602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2920"/>
                <a:gridCol w="1691640"/>
                <a:gridCol w="2331720"/>
                <a:gridCol w="2606040"/>
                <a:gridCol w="2331720"/>
                <a:gridCol w="2359152"/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S.No</a:t>
                      </a: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Author's Name</a:t>
                      </a: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Title</a:t>
                      </a: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Methods</a:t>
                      </a: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Merits</a:t>
                      </a: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Demerits</a:t>
                      </a: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50">
                          <a:solidFill>
                            <a:srgbClr val="262626"/>
                          </a:solidFill>
                        </a:rPr>
                        <a:t>1</a:t>
                      </a:r>
                      <a:endParaRPr sz="950"/>
                    </a:p>
                  </a:txBody>
                  <a:tcPr marL="50800" marR="50800" marT="25400" marB="2540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62626"/>
                          </a:solidFill>
                        </a:rPr>
                        <a:t>Agentic Schema Refinement authors (2026)</a:t>
                      </a:r>
                      <a:endParaRPr sz="950"/>
                    </a:p>
                  </a:txBody>
                  <a:tcPr marL="50800" marR="50800" marT="25400" marB="2540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62626"/>
                          </a:solidFill>
                        </a:rPr>
                        <a:t>Agentic Schema Refinement</a:t>
                      </a:r>
                      <a:endParaRPr sz="950"/>
                    </a:p>
                  </a:txBody>
                  <a:tcPr marL="50800" marR="50800" marT="25400" marB="2540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62626"/>
                          </a:solidFill>
                        </a:rPr>
                        <a:t>Multi-agent LLM (Analyst, Critic, Verifier) for semantic-layer construction</a:t>
                      </a:r>
                      <a:endParaRPr sz="950"/>
                    </a:p>
                  </a:txBody>
                  <a:tcPr marL="50800" marR="50800" marT="25400" marB="2540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62626"/>
                          </a:solidFill>
                        </a:rPr>
                        <a:t>Improves downstream Text-to-SQL performance; handles wide, ambiguous tables</a:t>
                      </a:r>
                      <a:endParaRPr sz="950"/>
                    </a:p>
                  </a:txBody>
                  <a:tcPr marL="50800" marR="50800" marT="25400" marB="2540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62626"/>
                          </a:solidFill>
                        </a:rPr>
                        <a:t>Tested only on commercial datasets; agent coordination overhead</a:t>
                      </a:r>
                      <a:endParaRPr sz="950"/>
                    </a:p>
                  </a:txBody>
                  <a:tcPr marL="50800" marR="50800" marT="25400" marB="2540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50">
                          <a:solidFill>
                            <a:srgbClr val="262626"/>
                          </a:solidFill>
                        </a:rPr>
                        <a:t>2</a:t>
                      </a:r>
                      <a:endParaRPr sz="950"/>
                    </a:p>
                  </a:txBody>
                  <a:tcPr marL="50800" marR="50800" marT="25400" marB="2540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62626"/>
                          </a:solidFill>
                        </a:rPr>
                        <a:t>Miffie authors (2025)</a:t>
                      </a:r>
                      <a:endParaRPr sz="950"/>
                    </a:p>
                  </a:txBody>
                  <a:tcPr marL="50800" marR="50800" marT="25400" marB="2540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62626"/>
                          </a:solidFill>
                        </a:rPr>
                        <a:t>Database Normalization via Dual-LLM Self-Refinement</a:t>
                      </a:r>
                      <a:endParaRPr sz="950"/>
                    </a:p>
                  </a:txBody>
                  <a:tcPr marL="50800" marR="50800" marT="25400" marB="2540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62626"/>
                          </a:solidFill>
                        </a:rPr>
                        <a:t>Dual-LLM (generation + verification) self-refinement loop</a:t>
                      </a:r>
                      <a:endParaRPr sz="950"/>
                    </a:p>
                  </a:txBody>
                  <a:tcPr marL="50800" marR="50800" marT="25400" marB="2540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62626"/>
                          </a:solidFill>
                        </a:rPr>
                        <a:t>High-accuracy anomaly detection; no human effort needed</a:t>
                      </a:r>
                      <a:endParaRPr sz="950"/>
                    </a:p>
                  </a:txBody>
                  <a:tcPr marL="50800" marR="50800" marT="25400" marB="2540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62626"/>
                          </a:solidFill>
                        </a:rPr>
                        <a:t>Struggles with highly complex/specialized schemas; costly compute</a:t>
                      </a:r>
                      <a:endParaRPr sz="950"/>
                    </a:p>
                  </a:txBody>
                  <a:tcPr marL="50800" marR="50800" marT="25400" marB="2540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50">
                          <a:solidFill>
                            <a:srgbClr val="262626"/>
                          </a:solidFill>
                        </a:rPr>
                        <a:t>3</a:t>
                      </a:r>
                      <a:endParaRPr sz="950"/>
                    </a:p>
                  </a:txBody>
                  <a:tcPr marL="50800" marR="50800" marT="25400" marB="2540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62626"/>
                          </a:solidFill>
                        </a:rPr>
                        <a:t>Divljan et al. (2025)</a:t>
                      </a:r>
                      <a:endParaRPr sz="950"/>
                    </a:p>
                  </a:txBody>
                  <a:tcPr marL="50800" marR="50800" marT="25400" marB="2540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62626"/>
                          </a:solidFill>
                        </a:rPr>
                        <a:t>Towards an LLM-based Tool for Automated Database Design</a:t>
                      </a:r>
                      <a:endParaRPr sz="950"/>
                    </a:p>
                  </a:txBody>
                  <a:tcPr marL="50800" marR="50800" marT="25400" marB="2540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62626"/>
                          </a:solidFill>
                        </a:rPr>
                        <a:t>LLM derives Conceptual Data Model from text spec, forward-engineers schema</a:t>
                      </a:r>
                      <a:endParaRPr sz="950"/>
                    </a:p>
                  </a:txBody>
                  <a:tcPr marL="50800" marR="50800" marT="25400" marB="2540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62626"/>
                          </a:solidFill>
                        </a:rPr>
                        <a:t>Works across multiple natural languages; functional early prototype</a:t>
                      </a:r>
                      <a:endParaRPr sz="950"/>
                    </a:p>
                  </a:txBody>
                  <a:tcPr marL="50800" marR="50800" marT="25400" marB="2540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62626"/>
                          </a:solidFill>
                        </a:rPr>
                        <a:t>Only implements CDM generation so far; early-stage tool</a:t>
                      </a:r>
                      <a:endParaRPr sz="950"/>
                    </a:p>
                  </a:txBody>
                  <a:tcPr marL="50800" marR="50800" marT="25400" marB="2540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50">
                          <a:solidFill>
                            <a:srgbClr val="262626"/>
                          </a:solidFill>
                        </a:rPr>
                        <a:t>4</a:t>
                      </a:r>
                      <a:endParaRPr sz="950"/>
                    </a:p>
                  </a:txBody>
                  <a:tcPr marL="50800" marR="50800" marT="25400" marB="2540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62626"/>
                          </a:solidFill>
                        </a:rPr>
                        <a:t>Text2Schema authors (2025)</a:t>
                      </a:r>
                      <a:endParaRPr sz="950"/>
                    </a:p>
                  </a:txBody>
                  <a:tcPr marL="50800" marR="50800" marT="25400" marB="2540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62626"/>
                          </a:solidFill>
                        </a:rPr>
                        <a:t>Text2Schema: Filling the Gap in Designing DB Table Structures</a:t>
                      </a:r>
                      <a:endParaRPr sz="950"/>
                    </a:p>
                  </a:txBody>
                  <a:tcPr marL="50800" marR="50800" marT="25400" marB="2540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62626"/>
                          </a:solidFill>
                        </a:rPr>
                        <a:t>Multi-agent framework (six roles) with error detection/correction</a:t>
                      </a:r>
                      <a:endParaRPr sz="950"/>
                    </a:p>
                  </a:txBody>
                  <a:tcPr marL="50800" marR="50800" marT="25400" marB="2540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62626"/>
                          </a:solidFill>
                        </a:rPr>
                        <a:t>First schema-generation benchmark (500 schemas); beats prompt-based baselines</a:t>
                      </a:r>
                      <a:endParaRPr sz="950"/>
                    </a:p>
                  </a:txBody>
                  <a:tcPr marL="50800" marR="50800" marT="25400" marB="2540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62626"/>
                          </a:solidFill>
                        </a:rPr>
                        <a:t>Complex six-role pipeline; benchmark may not generalize</a:t>
                      </a:r>
                      <a:endParaRPr sz="950"/>
                    </a:p>
                  </a:txBody>
                  <a:tcPr marL="50800" marR="50800" marT="25400" marB="2540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50">
                          <a:solidFill>
                            <a:srgbClr val="262626"/>
                          </a:solidFill>
                        </a:rPr>
                        <a:t>5</a:t>
                      </a:r>
                      <a:endParaRPr sz="950"/>
                    </a:p>
                  </a:txBody>
                  <a:tcPr marL="50800" marR="50800" marT="25400" marB="2540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62626"/>
                          </a:solidFill>
                        </a:rPr>
                        <a:t>Salem et al. (2024)</a:t>
                      </a:r>
                      <a:endParaRPr sz="950"/>
                    </a:p>
                  </a:txBody>
                  <a:tcPr marL="50800" marR="50800" marT="25400" marB="2540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62626"/>
                          </a:solidFill>
                        </a:rPr>
                        <a:t>LLM + NLP Tool for ER-to-SQL Conversion</a:t>
                      </a:r>
                      <a:endParaRPr sz="950"/>
                    </a:p>
                  </a:txBody>
                  <a:tcPr marL="50800" marR="50800" marT="25400" marB="2540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62626"/>
                          </a:solidFill>
                        </a:rPr>
                        <a:t>Combines LLMs with classical NLP to convert text/ER images to SQL</a:t>
                      </a:r>
                      <a:endParaRPr sz="950"/>
                    </a:p>
                  </a:txBody>
                  <a:tcPr marL="50800" marR="50800" marT="25400" marB="2540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62626"/>
                          </a:solidFill>
                        </a:rPr>
                        <a:t>Automates the logical modeling stage</a:t>
                      </a:r>
                      <a:endParaRPr sz="950"/>
                    </a:p>
                  </a:txBody>
                  <a:tcPr marL="50800" marR="50800" marT="25400" marB="2540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62626"/>
                          </a:solidFill>
                        </a:rPr>
                        <a:t>Lacks methodological clarity/internal detail</a:t>
                      </a:r>
                      <a:endParaRPr sz="950"/>
                    </a:p>
                  </a:txBody>
                  <a:tcPr marL="50800" marR="50800" marT="25400" marB="2540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50">
                          <a:solidFill>
                            <a:srgbClr val="262626"/>
                          </a:solidFill>
                        </a:rPr>
                        <a:t>6</a:t>
                      </a:r>
                      <a:endParaRPr sz="950"/>
                    </a:p>
                  </a:txBody>
                  <a:tcPr marL="50800" marR="50800" marT="25400" marB="2540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62626"/>
                          </a:solidFill>
                        </a:rPr>
                        <a:t>MDPI authors (2025)</a:t>
                      </a:r>
                      <a:endParaRPr sz="950"/>
                    </a:p>
                  </a:txBody>
                  <a:tcPr marL="50800" marR="50800" marT="25400" marB="2540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62626"/>
                          </a:solidFill>
                        </a:rPr>
                        <a:t>AI-Assisted Evaluation of ER/Schema Diagrams Using LLMs</a:t>
                      </a:r>
                      <a:endParaRPr sz="950"/>
                    </a:p>
                  </a:txBody>
                  <a:tcPr marL="50800" marR="50800" marT="25400" marB="2540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62626"/>
                          </a:solidFill>
                        </a:rPr>
                        <a:t>LLM generates reference ER/schema in PlantUML, compares to submissions</a:t>
                      </a:r>
                      <a:endParaRPr sz="950"/>
                    </a:p>
                  </a:txBody>
                  <a:tcPr marL="50800" marR="50800" marT="25400" marB="2540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62626"/>
                          </a:solidFill>
                        </a:rPr>
                        <a:t>Enables scalable automated assessment</a:t>
                      </a:r>
                      <a:endParaRPr sz="950"/>
                    </a:p>
                  </a:txBody>
                  <a:tcPr marL="50800" marR="50800" marT="25400" marB="2540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62626"/>
                          </a:solidFill>
                        </a:rPr>
                        <a:t>Scoring methodology often unclear across notations</a:t>
                      </a:r>
                      <a:endParaRPr sz="950"/>
                    </a:p>
                  </a:txBody>
                  <a:tcPr marL="50800" marR="50800" marT="25400" marB="2540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748899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7698418-6CA5-4E9D-86CE-43B8B908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040"/>
            <a:ext cx="1109167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Literature Review (contd.)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E727E3F-A3F4-4A86-B1E9-7CC99247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6400800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808080"/>
                </a:solidFill>
                <a:latin typeface="Calibri"/>
                <a:ea typeface="Calibri"/>
                <a:cs typeface="Calibri"/>
              </a:rPr>
              <a:t>27 September 2026</a:t>
            </a:r>
            <a:endParaRPr sz="11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541A2DC-B339-43C3-B245-3BBE21AD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552" y="640080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808080"/>
                </a:solidFill>
                <a:latin typeface="Calibri"/>
                <a:ea typeface="Calibri"/>
                <a:cs typeface="Calibri"/>
              </a:rPr>
              <a:t>5</a:t>
            </a:r>
            <a:endParaRPr sz="1100"/>
          </a:p>
        </p:txBody>
      </p:sp>
      <p:graphicFrame>
        <p:nvGraphicFramePr>
          <p:cNvPr id="9" name="Table 0"/>
          <p:cNvGraphicFramePr/>
          <p:nvPr/>
        </p:nvGraphicFramePr>
        <p:xfrm>
          <a:off xmlns:a="http://schemas.openxmlformats.org/drawingml/2006/main" x="365760" y="1143000"/>
          <a:ext xmlns:a="http://schemas.openxmlformats.org/drawingml/2006/main" cx="11823192" cy="19608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2920"/>
                <a:gridCol w="1691640"/>
                <a:gridCol w="2331720"/>
                <a:gridCol w="2606040"/>
                <a:gridCol w="2331720"/>
                <a:gridCol w="2359152"/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S.No</a:t>
                      </a: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Author's Name</a:t>
                      </a: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Title</a:t>
                      </a: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Methods</a:t>
                      </a: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Merits</a:t>
                      </a: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Demerits</a:t>
                      </a: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50">
                          <a:solidFill>
                            <a:srgbClr val="262626"/>
                          </a:solidFill>
                        </a:rPr>
                        <a:t>7</a:t>
                      </a:r>
                      <a:endParaRPr sz="950"/>
                    </a:p>
                  </a:txBody>
                  <a:tcPr marL="50800" marR="50800" marT="25400" marB="2540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62626"/>
                          </a:solidFill>
                        </a:rPr>
                        <a:t>SBBD authors (2024)</a:t>
                      </a:r>
                      <a:endParaRPr sz="950"/>
                    </a:p>
                  </a:txBody>
                  <a:tcPr marL="50800" marR="50800" marT="25400" marB="2540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62626"/>
                          </a:solidFill>
                        </a:rPr>
                        <a:t>Database Modeling Automation from Natural Language Requirements</a:t>
                      </a:r>
                      <a:endParaRPr sz="950"/>
                    </a:p>
                  </a:txBody>
                  <a:tcPr marL="50800" marR="50800" marT="25400" marB="2540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62626"/>
                          </a:solidFill>
                        </a:rPr>
                        <a:t>LLM + prompt engineering to auto-generate ER diagrams from text</a:t>
                      </a:r>
                      <a:endParaRPr sz="950"/>
                    </a:p>
                  </a:txBody>
                  <a:tcPr marL="50800" marR="50800" marT="25400" marB="2540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62626"/>
                          </a:solidFill>
                        </a:rPr>
                        <a:t>Flexible across multiple LLMs; validated with real users</a:t>
                      </a:r>
                      <a:endParaRPr sz="950"/>
                    </a:p>
                  </a:txBody>
                  <a:tcPr marL="50800" marR="50800" marT="25400" marB="2540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62626"/>
                          </a:solidFill>
                        </a:rPr>
                        <a:t>Struggles with cardinalities and nullable constraints</a:t>
                      </a:r>
                      <a:endParaRPr sz="950"/>
                    </a:p>
                  </a:txBody>
                  <a:tcPr marL="50800" marR="50800" marT="25400" marB="2540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50">
                          <a:solidFill>
                            <a:srgbClr val="262626"/>
                          </a:solidFill>
                        </a:rPr>
                        <a:t>8</a:t>
                      </a:r>
                      <a:endParaRPr sz="950"/>
                    </a:p>
                  </a:txBody>
                  <a:tcPr marL="50800" marR="50800" marT="25400" marB="2540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62626"/>
                          </a:solidFill>
                        </a:rPr>
                        <a:t>United Techno (2025)</a:t>
                      </a:r>
                      <a:endParaRPr sz="950"/>
                    </a:p>
                  </a:txBody>
                  <a:tcPr marL="50800" marR="50800" marT="25400" marB="2540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62626"/>
                          </a:solidFill>
                        </a:rPr>
                        <a:t>AI-Powered ERD Automation with LLM</a:t>
                      </a:r>
                      <a:endParaRPr sz="950"/>
                    </a:p>
                  </a:txBody>
                  <a:tcPr marL="50800" marR="50800" marT="25400" marB="2540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62626"/>
                          </a:solidFill>
                        </a:rPr>
                        <a:t>LLM-driven table extraction, relationship discovery, ERD generation</a:t>
                      </a:r>
                      <a:endParaRPr sz="950"/>
                    </a:p>
                  </a:txBody>
                  <a:tcPr marL="50800" marR="50800" marT="25400" marB="2540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62626"/>
                          </a:solidFill>
                        </a:rPr>
                        <a:t>Cuts modeling time from weeks to minutes; scales to 1000s of tables</a:t>
                      </a:r>
                      <a:endParaRPr sz="950"/>
                    </a:p>
                  </a:txBody>
                  <a:tcPr marL="50800" marR="50800" marT="25400" marB="2540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62626"/>
                          </a:solidFill>
                        </a:rPr>
                        <a:t>Industry case study, not peer-reviewed; limited technical detail</a:t>
                      </a:r>
                      <a:endParaRPr sz="950"/>
                    </a:p>
                  </a:txBody>
                  <a:tcPr marL="50800" marR="50800" marT="25400" marB="2540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50">
                          <a:solidFill>
                            <a:srgbClr val="262626"/>
                          </a:solidFill>
                        </a:rPr>
                        <a:t>9</a:t>
                      </a:r>
                      <a:endParaRPr sz="950"/>
                    </a:p>
                  </a:txBody>
                  <a:tcPr marL="50800" marR="50800" marT="25400" marB="2540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62626"/>
                          </a:solidFill>
                        </a:rPr>
                        <a:t>AutoG authors (2025)</a:t>
                      </a:r>
                      <a:endParaRPr sz="950"/>
                    </a:p>
                  </a:txBody>
                  <a:tcPr marL="50800" marR="50800" marT="25400" marB="2540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62626"/>
                          </a:solidFill>
                        </a:rPr>
                        <a:t>AutoG: Automatic Graph Construction from Tabular Data</a:t>
                      </a:r>
                      <a:endParaRPr sz="950"/>
                    </a:p>
                  </a:txBody>
                  <a:tcPr marL="50800" marR="50800" marT="25400" marB="2540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62626"/>
                          </a:solidFill>
                        </a:rPr>
                        <a:t>Guided generation with "chain-of-augmentation" for schema/graph construction</a:t>
                      </a:r>
                      <a:endParaRPr sz="950"/>
                    </a:p>
                  </a:txBody>
                  <a:tcPr marL="50800" marR="50800" marT="25400" marB="2540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62626"/>
                          </a:solidFill>
                        </a:rPr>
                        <a:t>Solves multi-step relation-detection failures of naive generation</a:t>
                      </a:r>
                      <a:endParaRPr sz="950"/>
                    </a:p>
                  </a:txBody>
                  <a:tcPr marL="50800" marR="50800" marT="25400" marB="2540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62626"/>
                          </a:solidFill>
                        </a:rPr>
                        <a:t>Requires careful prompt/action design; dataset-specific tuning</a:t>
                      </a:r>
                      <a:endParaRPr sz="950"/>
                    </a:p>
                  </a:txBody>
                  <a:tcPr marL="50800" marR="50800" marT="25400" marB="2540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50">
                          <a:solidFill>
                            <a:srgbClr val="262626"/>
                          </a:solidFill>
                        </a:rPr>
                        <a:t>10</a:t>
                      </a:r>
                      <a:endParaRPr sz="950"/>
                    </a:p>
                  </a:txBody>
                  <a:tcPr marL="50800" marR="50800" marT="25400" marB="2540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62626"/>
                          </a:solidFill>
                        </a:rPr>
                        <a:t>Anonymous (2025)</a:t>
                      </a:r>
                      <a:endParaRPr sz="950"/>
                    </a:p>
                  </a:txBody>
                  <a:tcPr marL="50800" marR="50800" marT="25400" marB="2540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62626"/>
                          </a:solidFill>
                        </a:rPr>
                        <a:t>Automated Feedback on Student UML/ER Diagrams Using LLMs</a:t>
                      </a:r>
                      <a:endParaRPr sz="950"/>
                    </a:p>
                  </a:txBody>
                  <a:tcPr marL="50800" marR="50800" marT="25400" marB="2540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62626"/>
                          </a:solidFill>
                        </a:rPr>
                        <a:t>LLMs analyze PlantUML text representations of ER/UML diagrams</a:t>
                      </a:r>
                      <a:endParaRPr sz="950"/>
                    </a:p>
                  </a:txBody>
                  <a:tcPr marL="50800" marR="50800" marT="25400" marB="2540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62626"/>
                          </a:solidFill>
                        </a:rPr>
                        <a:t>Text-based diagrams process more reliably than images for LLMs</a:t>
                      </a:r>
                      <a:endParaRPr sz="950"/>
                    </a:p>
                  </a:txBody>
                  <a:tcPr marL="50800" marR="50800" marT="25400" marB="2540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62626"/>
                          </a:solidFill>
                        </a:rPr>
                        <a:t>Limited to text-representable diagrams; feedback quality varies</a:t>
                      </a:r>
                      <a:endParaRPr sz="950"/>
                    </a:p>
                  </a:txBody>
                  <a:tcPr marL="50800" marR="50800" marT="25400" marB="2540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50">
                          <a:solidFill>
                            <a:srgbClr val="262626"/>
                          </a:solidFill>
                        </a:rPr>
                        <a:t>11</a:t>
                      </a:r>
                      <a:endParaRPr sz="950"/>
                    </a:p>
                  </a:txBody>
                  <a:tcPr marL="50800" marR="50800" marT="25400" marB="2540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62626"/>
                          </a:solidFill>
                        </a:rPr>
                        <a:t>KARMA authors (2025)</a:t>
                      </a:r>
                      <a:endParaRPr sz="950"/>
                    </a:p>
                  </a:txBody>
                  <a:tcPr marL="50800" marR="50800" marT="25400" marB="2540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62626"/>
                          </a:solidFill>
                        </a:rPr>
                        <a:t>KARMA: Multi-Agent LLMs for Knowledge Graph Enrichment</a:t>
                      </a:r>
                      <a:endParaRPr sz="950"/>
                    </a:p>
                  </a:txBody>
                  <a:tcPr marL="50800" marR="50800" marT="25400" marB="2540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62626"/>
                          </a:solidFill>
                        </a:rPr>
                        <a:t>9 collaborative agents for entity discovery, relation extraction, schema alignment</a:t>
                      </a:r>
                      <a:endParaRPr sz="950"/>
                    </a:p>
                  </a:txBody>
                  <a:tcPr marL="50800" marR="50800" marT="25400" marB="2540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62626"/>
                          </a:solidFill>
                        </a:rPr>
                        <a:t>Adheres to domain-specific schema; strong conflict resolution</a:t>
                      </a:r>
                      <a:endParaRPr sz="950"/>
                    </a:p>
                  </a:txBody>
                  <a:tcPr marL="50800" marR="50800" marT="25400" marB="2540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62626"/>
                          </a:solidFill>
                        </a:rPr>
                        <a:t>High agent-orchestration complexity</a:t>
                      </a:r>
                      <a:endParaRPr sz="950"/>
                    </a:p>
                  </a:txBody>
                  <a:tcPr marL="50800" marR="50800" marT="25400" marB="25400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05840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C554394-99C3-4ECA-952A-A109AD70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040"/>
            <a:ext cx="1109167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Implemented Workflow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B11DBEB-D213-4FAE-AF68-E655C50C9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6400800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808080"/>
                </a:solidFill>
                <a:latin typeface="Calibri"/>
                <a:ea typeface="Calibri"/>
                <a:cs typeface="Calibri"/>
              </a:rPr>
              <a:t>27 September 2026</a:t>
            </a:r>
            <a:endParaRPr sz="11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E2F2F1A-BA37-4EBA-9F11-510CC5B2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552" y="640080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808080"/>
                </a:solidFill>
                <a:latin typeface="Calibri"/>
                <a:ea typeface="Calibri"/>
                <a:cs typeface="Calibri"/>
              </a:rPr>
              <a:t>6</a:t>
            </a:r>
            <a:endParaRPr sz="11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F73F258-786E-48BA-BE5F-DE8BE6D1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" y="2651760"/>
            <a:ext cx="1691640" cy="105156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F5AA8"/>
          </a:solidFill>
          <a:ln xmlns:a="http://schemas.openxmlformats.org/drawingml/2006/main" w="12700">
            <a:solidFill>
              <a:srgbClr val="1F386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01A48D8-6ED6-4D71-9FD4-0F6FC3BC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" y="2651760"/>
            <a:ext cx="169164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NL Requirement /</a:t>
            </a:r>
            <a:endParaRPr sz="1050"/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Existing Schema Input</a:t>
            </a:r>
            <a:endParaRPr sz="10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1C7E1E7-9CB7-47D4-BEEB-888D9D39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3095244"/>
            <a:ext cx="265176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0808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DC336C64-2866-4A38-8147-488A37C4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1136" y="2651760"/>
            <a:ext cx="1691640" cy="105156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F5AA8"/>
          </a:solidFill>
          <a:ln xmlns:a="http://schemas.openxmlformats.org/drawingml/2006/main" w="12700">
            <a:solidFill>
              <a:srgbClr val="1F386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CB21459-FF74-40F2-AEAB-A9E31336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1136" y="2651760"/>
            <a:ext cx="169164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Entity &amp; Relationship</a:t>
            </a:r>
            <a:endParaRPr sz="1050"/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Extraction Agent</a:t>
            </a:r>
            <a:endParaRPr sz="10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C4277C2-6D39-4B97-BA71-42EC81CD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0208" y="3095244"/>
            <a:ext cx="265176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0808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9D7EB9E-4DF5-469F-83F1-B4E007BD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2816" y="2651760"/>
            <a:ext cx="1691640" cy="105156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F5AA8"/>
          </a:solidFill>
          <a:ln xmlns:a="http://schemas.openxmlformats.org/drawingml/2006/main" w="12700">
            <a:solidFill>
              <a:srgbClr val="1F386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5306DE4-8D6B-4441-ADFE-67A76400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2816" y="2651760"/>
            <a:ext cx="169164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Functional Dependency</a:t>
            </a:r>
            <a:endParaRPr sz="1050"/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&amp; Anomaly Detection</a:t>
            </a:r>
            <a:endParaRPr sz="10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6FB9F9ED-444C-44EF-BA41-4BAC35CF9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888" y="3095244"/>
            <a:ext cx="265176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0808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64FA2A3-B2AC-43DD-B933-037F28FD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6" y="2651760"/>
            <a:ext cx="1691640" cy="105156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F5AA8"/>
          </a:solidFill>
          <a:ln xmlns:a="http://schemas.openxmlformats.org/drawingml/2006/main" w="12700">
            <a:solidFill>
              <a:srgbClr val="1F386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2F5ED7B-3D83-46A3-B369-1C90386B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6" y="2651760"/>
            <a:ext cx="169164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Normalization Engine</a:t>
            </a:r>
            <a:endParaRPr sz="1050"/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(1NF → 3NF/BCNF)</a:t>
            </a:r>
            <a:endParaRPr sz="10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E1249F68-F03A-4898-9997-026275A6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3095244"/>
            <a:ext cx="265176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0808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63D6B9F0-28CE-43E0-88BF-449DBBE1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6176" y="2331720"/>
            <a:ext cx="1691640" cy="1691640"/>
          </a:xfrm>
          <a:prstGeom xmlns:a="http://schemas.openxmlformats.org/drawingml/2006/main" prst="diamond">
            <a:avLst>
              <a:gd name="adj" fmla="val 4324"/>
            </a:avLst>
          </a:prstGeom>
          <a:solidFill xmlns:a="http://schemas.openxmlformats.org/drawingml/2006/main">
            <a:srgbClr val="1F5AA8"/>
          </a:solidFill>
          <a:ln xmlns:a="http://schemas.openxmlformats.org/drawingml/2006/main" w="12700">
            <a:solidFill>
              <a:srgbClr val="1F386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9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aca645d3ca4f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6787"/>
            <a:ext cx="12192000" cy="6792520"/>
          </a:xfrm>
          <a:prstGeom xmlns:a="http://schemas.openxmlformats.org/drawingml/2006/main" prst="rect">
            <a:avLst/>
          </a:prstGeom>
        </p:spPr>
      </p:pic>
      <p:pic>
        <p:nvPicPr>
          <p:cNvPr id="50" name="Ink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925060169546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2390" y="6395207"/>
            <a:ext cx="1245240" cy="2646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3FA126-79B5-418A-A8BB-09F06DF0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695450"/>
            <a:ext cx="1184910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0B17D8-751A-4FAE-BFA4-0405C873D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619375"/>
            <a:ext cx="14763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F5AA8"/>
          </a:solidFill>
          <a:ln xmlns:a="http://schemas.openxmlformats.org/drawingml/2006/main" w="9525">
            <a:solidFill>
              <a:srgbClr val="1F386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Input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prose or DDL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DB160D-03E1-4788-8062-3D59FB5F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96227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4BCB40-07DF-421A-AA50-51F5CD35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619375"/>
            <a:ext cx="14763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F5AA8"/>
          </a:solidFill>
          <a:ln xmlns:a="http://schemas.openxmlformats.org/drawingml/2006/main" w="9525">
            <a:solidFill>
              <a:srgbClr val="1F386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Groq extraction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validated JSON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A249BA-BFB3-4C9C-80B0-687596AB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6227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75FDBB-5619-494D-9645-5F841968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619375"/>
            <a:ext cx="14763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F5AA8"/>
          </a:solidFill>
          <a:ln xmlns:a="http://schemas.openxmlformats.org/drawingml/2006/main" w="9525">
            <a:solidFill>
              <a:srgbClr val="1F386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FDs and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anomaly checks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5C40D1-66CF-4078-9527-67B43D5F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6227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E186CC-9768-43DB-B567-2C485593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619375"/>
            <a:ext cx="14763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F3864"/>
          </a:solidFill>
          <a:ln xmlns:a="http://schemas.openxmlformats.org/drawingml/2006/main" w="9525">
            <a:solidFill>
              <a:srgbClr val="1F386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Deterministic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normalization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C6F845-491E-4311-A6A0-6C4E5279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6227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A2D36F-4F49-4264-8495-5D2959AF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619375"/>
            <a:ext cx="14763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F5AA8"/>
          </a:solidFill>
          <a:ln xmlns:a="http://schemas.openxmlformats.org/drawingml/2006/main" w="9525">
            <a:solidFill>
              <a:srgbClr val="1F386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Optional semantic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verifier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C31426-3778-49D3-9073-777258058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96227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1498B7-C3C6-42B5-AB6B-9DB9CBC2E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19375"/>
            <a:ext cx="14763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F5AA8"/>
          </a:solidFill>
          <a:ln xmlns:a="http://schemas.openxmlformats.org/drawingml/2006/main" w="9525">
            <a:solidFill>
              <a:srgbClr val="1F386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SQL, report,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and ERD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7118A9-010E-4A31-97DC-DA3068832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LLM extraction is bounded by Pydantic validation. The mathematical normalization stage has no LLM dependency.</a:t>
            </a:r>
          </a:p>
        </p:txBody>
      </p:sp>
    </p:spTree>
    <p:extLst>
      <p:ext uri="{BB962C8B-B14F-4D97-AF65-F5344CB8AC3E}">
        <p14:creationId xmlns:p14="http://schemas.microsoft.com/office/powerpoint/2010/main" val="191099818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ED8EEC2-F14E-4855-A255-074B6FDB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040"/>
            <a:ext cx="1109167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Implementation Status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685F7AF-74FD-4524-8106-E601DE9B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6400800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808080"/>
                </a:solidFill>
                <a:latin typeface="Calibri"/>
                <a:ea typeface="Calibri"/>
                <a:cs typeface="Calibri"/>
              </a:rPr>
              <a:t>27 September 2026</a:t>
            </a:r>
            <a:endParaRPr sz="11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F3E4415-57F5-47C6-9F73-AA3E6673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552" y="640080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808080"/>
                </a:solidFill>
                <a:latin typeface="Calibri"/>
                <a:ea typeface="Calibri"/>
                <a:cs typeface="Calibri"/>
              </a:rPr>
              <a:t>7</a:t>
            </a:r>
            <a:endParaRPr sz="11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436199A-7019-4569-BBC0-E3CCEABCF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88720"/>
            <a:ext cx="210312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46AAF9C-2EE9-45B8-80DF-E11E16E2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88720"/>
            <a:ext cx="2103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Input Layer</a:t>
            </a:r>
            <a:endParaRPr sz="13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1E32BD46-4013-4003-882F-C94316C9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188720"/>
            <a:ext cx="8897112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8E533F1-E587-42E6-9509-42677CE3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1188720"/>
            <a:ext cx="862279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Implemented: regex distinguishes DDL from free text; sqlparse reads CREATE TABLE columns.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39D9175-321A-43A9-923F-4D392E2B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29968"/>
            <a:ext cx="210312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1DD33B6-BD15-414C-B126-79A51E7B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29968"/>
            <a:ext cx="2103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Extraction Agent</a:t>
            </a:r>
            <a:endParaRPr sz="13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5A5D2D8-B720-4686-9699-941C26CF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029968"/>
            <a:ext cx="8897112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8C8C254-F812-4447-B4D3-3CAB9314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029968"/>
            <a:ext cx="862279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Implemented: Groq JSON mode, Pydantic validation, one repair retry, and demo fallback.</a:t>
            </a:r>
            <a:endParaRPr sz="12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A9E3DBA1-C007-479E-81B3-4615A001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871216"/>
            <a:ext cx="210312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42810C6-E2EF-4CA8-9DD4-B1CF3E52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871216"/>
            <a:ext cx="2103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FD Detection</a:t>
            </a:r>
            <a:endParaRPr sz="13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EB1EDACC-0C4F-4CF2-B210-1D4EDC8B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871216"/>
            <a:ext cx="8897112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C86026C-AD2E-4164-84F7-6ECDF21B5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871216"/>
            <a:ext cx="862279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Implemented: structured FD list drives deterministic checks and decomposition.</a:t>
            </a:r>
            <a:endParaRPr sz="125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50608227-3239-481B-95B5-B024CE00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12464"/>
            <a:ext cx="210312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08424D0-6B42-43B5-8F30-884A2010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12464"/>
            <a:ext cx="2103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Normalization</a:t>
            </a:r>
            <a:endParaRPr sz="13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E7E28C5C-94CB-4496-A8D3-A8D50407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712464"/>
            <a:ext cx="8897112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D0245413-71C6-4F45-808E-934CDEAE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3712464"/>
            <a:ext cx="862279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Implemented: closure, candidate keys, 1NF/2NF/3NF checks, 3NF synthesis, optional BCNF.</a:t>
            </a:r>
            <a:endParaRPr sz="125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8901E838-D5B6-4897-9CBB-A64CC5C3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53712"/>
            <a:ext cx="210312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60A2CA6-8926-4E82-816D-191E94B5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53712"/>
            <a:ext cx="2103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Verifier</a:t>
            </a:r>
            <a:endParaRPr sz="13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F052E166-1BF3-4995-9D1B-6847D537D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553712"/>
            <a:ext cx="8897112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95A60FCF-44B8-4582-998F-BC12E446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4553712"/>
            <a:ext cx="862279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Partial: optional Groq semantic review; bounded refinement remains future work.</a:t>
            </a:r>
            <a:endParaRPr sz="12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13439447-9DB7-4078-A74B-6A8253C4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94960"/>
            <a:ext cx="210312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CBD92036-0C39-43B9-8F06-D6A0029F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94960"/>
            <a:ext cx="2103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Output</a:t>
            </a:r>
            <a:endParaRPr sz="130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8C0CC86E-D277-4226-A004-B6D66441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394960"/>
            <a:ext cx="8897112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E0612840-5550-4E37-A568-D3761E86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5394960"/>
            <a:ext cx="862279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Implemented: tables, foreign keys, CREATE TABLE SQL, explanation report, Mermaid ERD.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78811305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B5277E4-9ED8-45B3-9952-FF817ADA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040"/>
            <a:ext cx="1109167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Working Prototype and Evidence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1B5A272-DB35-4146-BF22-DC476640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6400800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808080"/>
                </a:solidFill>
                <a:latin typeface="Calibri"/>
                <a:ea typeface="Calibri"/>
                <a:cs typeface="Calibri"/>
              </a:rPr>
              <a:t>27 September 2026</a:t>
            </a:r>
            <a:endParaRPr sz="11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52A58DB-EB9C-42B8-9862-DEF9D1B2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552" y="640080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808080"/>
                </a:solidFill>
                <a:latin typeface="Calibri"/>
                <a:ea typeface="Calibri"/>
                <a:cs typeface="Calibri"/>
              </a:rPr>
              <a:t>8</a:t>
            </a:r>
            <a:endParaRPr sz="11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7E09F3E-CC74-433B-8788-2213C870F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4762500" cy="4333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sz="170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Demo inputs</a:t>
            </a:r>
            <a:endParaRPr sz="1700"/>
          </a:p>
          <a:p xmlns:a="http://schemas.openxmlformats.org/drawingml/2006/main"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sz="170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• Plain-English student, course, instructor requirement</a:t>
            </a:r>
            <a:endParaRPr sz="1700"/>
          </a:p>
          <a:p xmlns:a="http://schemas.openxmlformats.org/drawingml/2006/main"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sz="170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• Messy enrollment CREATE TABLE statement</a:t>
            </a:r>
            <a:endParaRPr sz="1700"/>
          </a:p>
          <a:p xmlns:a="http://schemas.openxmlformats.org/drawingml/2006/main"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sz="170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/>
            </a:r>
            <a:endParaRPr sz="1700"/>
          </a:p>
          <a:p xmlns:a="http://schemas.openxmlformats.org/drawingml/2006/main"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sz="170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Demo output</a:t>
            </a:r>
            <a:endParaRPr sz="1700"/>
          </a:p>
          <a:p xmlns:a="http://schemas.openxmlformats.org/drawingml/2006/main"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sz="170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• Students, courses, instructors, and enrollment relations</a:t>
            </a:r>
            <a:endParaRPr sz="1700"/>
          </a:p>
          <a:p xmlns:a="http://schemas.openxmlformats.org/drawingml/2006/main"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sz="170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• Foreign keys, CREATE TABLE SQL, report, and Mermaid ERD</a:t>
            </a:r>
            <a:endParaRPr sz="1700"/>
          </a:p>
          <a:p xmlns:a="http://schemas.openxmlformats.org/drawingml/2006/main"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sz="170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/>
            </a:r>
            <a:endParaRPr sz="1700"/>
          </a:p>
          <a:p xmlns:a="http://schemas.openxmlformats.org/drawingml/2006/main"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sz="170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Validation</a:t>
            </a:r>
            <a:endParaRPr sz="1700"/>
          </a:p>
          <a:p xmlns:a="http://schemas.openxmlformats.org/drawingml/2006/main"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sz="170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• 4 automated normalization tests passed</a:t>
            </a:r>
            <a:endParaRPr sz="1700"/>
          </a:p>
          <a:p xmlns:a="http://schemas.openxmlformats.org/drawingml/2006/main"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sz="170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• Swagger exposes /analyze, /normalize, and /report</a:t>
            </a:r>
            <a:endParaRPr sz="1700"/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de1004558d443c"/>
          <a:stretch xmlns:a="http://schemas.openxmlformats.org/drawingml/2006/main"/>
        </p:blipFill>
        <p:spPr>
          <a:xfrm xmlns:a="http://schemas.openxmlformats.org/drawingml/2006/main">
            <a:off x="5753100" y="1682965"/>
            <a:ext cx="5476875" cy="292057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6C7D82-F003-4ED6-B3B5-7720A8D1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095875"/>
            <a:ext cx="547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  <a:r>
              <a:rPr sz="105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Swagger API interface used to submit the normalization request</a:t>
            </a:r>
          </a:p>
        </p:txBody>
      </p:sp>
    </p:spTree>
    <p:extLst>
      <p:ext uri="{BB962C8B-B14F-4D97-AF65-F5344CB8AC3E}">
        <p14:creationId xmlns:p14="http://schemas.microsoft.com/office/powerpoint/2010/main" val="137416118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44491B1-7FFA-46F4-BE7C-A3E633262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040"/>
            <a:ext cx="1109167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Review 1 Scope and Next Work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7A34B7C-5ADC-4B98-97FD-D125CB0E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6400800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808080"/>
                </a:solidFill>
                <a:latin typeface="Calibri"/>
                <a:ea typeface="Calibri"/>
                <a:cs typeface="Calibri"/>
              </a:rPr>
              <a:t>27 September 2026</a:t>
            </a:r>
            <a:endParaRPr sz="11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E024376-93DE-411A-B1B5-7095A26D6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552" y="640080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808080"/>
                </a:solidFill>
                <a:latin typeface="Calibri"/>
                <a:ea typeface="Calibri"/>
                <a:cs typeface="Calibri"/>
              </a:rPr>
              <a:t>9</a:t>
            </a:r>
            <a:endParaRPr sz="11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55D4EF8-E0CA-4D0F-9E17-CE2EE3FB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34440"/>
            <a:ext cx="10908792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Completed in this review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• End-to-end FastAPI prototype with two input modes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• Deterministic 3NF synthesis and optional BCNF decomposition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• SQL DDL, report, Mermaid ERD, and automated tests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/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Current limitations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• Functional dependencies still depend on LLM interpretation or demo assumptions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• Verifier feedback is advisory, not yet an automatic schema-changing loop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• Evaluation currently uses curated examples rather than a benchmark dataset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/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Next milestone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• Add bounded verifier-feedback refinement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• Evaluate against expert-designed schemas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• Render the Mermaid ERD in a presentation-ready visual view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16252557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0886153-A566-43CE-BC5A-FA103E26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06040"/>
            <a:ext cx="12188952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000" b="1" i="1">
                <a:solidFill>
                  <a:srgbClr val="1F3864"/>
                </a:solidFill>
                <a:latin typeface="Georgia"/>
                <a:ea typeface="Georgia"/>
                <a:cs typeface="Georgia"/>
              </a:rPr>
              <a:t>THANK YOU</a:t>
            </a:r>
            <a:endParaRPr sz="6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E925E33-4652-4C55-9F5B-0490C504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552" y="640080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808080"/>
                </a:solidFill>
                <a:latin typeface="Calibri"/>
                <a:ea typeface="Calibri"/>
                <a:cs typeface="Calibri"/>
              </a:rPr>
              <a:t>10</a:t>
            </a:r>
            <a:endParaRPr sz="1100"/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36A9E7-7B0B-4779-9D21-73E27B92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957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Normie | Review 1 | 27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75702033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2026-09-27T15:36:09.2890000Z</dcterms:created>
  <dcterms:modified xsi:type="dcterms:W3CDTF">2026-09-27T15:36:09.2890000Z</dcterms:modified>
</coreProperties>
</file>